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sldIdLst>
    <p:sldId id="256" r:id="rId3"/>
    <p:sldId id="257" r:id="rId4"/>
    <p:sldId id="268" r:id="rId5"/>
    <p:sldId id="258" r:id="rId6"/>
    <p:sldId id="259" r:id="rId7"/>
    <p:sldId id="269" r:id="rId8"/>
    <p:sldId id="260" r:id="rId9"/>
    <p:sldId id="270" r:id="rId10"/>
    <p:sldId id="261" r:id="rId11"/>
    <p:sldId id="262" r:id="rId12"/>
    <p:sldId id="263" r:id="rId13"/>
    <p:sldId id="267" r:id="rId14"/>
    <p:sldId id="264" r:id="rId15"/>
    <p:sldId id="265" r:id="rId16"/>
    <p:sldId id="271" r:id="rId17"/>
    <p:sldId id="272" r:id="rId18"/>
    <p:sldId id="26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>
        <c:manualLayout>
          <c:layoutTarget val="inner"/>
          <c:xMode val="edge"/>
          <c:yMode val="edge"/>
          <c:x val="7.3576754128191618E-2"/>
          <c:y val="0.15803246816370176"/>
          <c:w val="0.60789482730274491"/>
          <c:h val="0.6520576941771167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 Sales (Millions)</c:v>
                </c:pt>
              </c:strCache>
            </c:strRef>
          </c:tx>
          <c:dLbls>
            <c:dLbl>
              <c:idx val="5"/>
              <c:layout>
                <c:manualLayout>
                  <c:x val="-1.3007027057021244E-2"/>
                  <c:y val="-4.02313599688927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F3B-4A32-AAC5-BAE167CBE274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0.55000000000000004</c:v>
                </c:pt>
                <c:pt idx="1">
                  <c:v>0.78</c:v>
                </c:pt>
                <c:pt idx="2">
                  <c:v>1.28</c:v>
                </c:pt>
                <c:pt idx="3">
                  <c:v>2.0299999999999998</c:v>
                </c:pt>
                <c:pt idx="4">
                  <c:v>2.2599999999999998</c:v>
                </c:pt>
                <c:pt idx="5">
                  <c:v>3.24</c:v>
                </c:pt>
                <c:pt idx="6">
                  <c:v>6.6</c:v>
                </c:pt>
                <c:pt idx="7">
                  <c:v>10.5</c:v>
                </c:pt>
                <c:pt idx="8">
                  <c:v>14.1</c:v>
                </c:pt>
                <c:pt idx="9">
                  <c:v>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3B-4A32-AAC5-BAE167CBE2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 Chargers (Millions)</c:v>
                </c:pt>
              </c:strCache>
            </c:strRef>
          </c:tx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2017</c:v>
                </c:pt>
                <c:pt idx="1">
                  <c:v>2019</c:v>
                </c:pt>
                <c:pt idx="2">
                  <c:v>2021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</c:v>
                </c:pt>
                <c:pt idx="1">
                  <c:v>0.7</c:v>
                </c:pt>
                <c:pt idx="2">
                  <c:v>1.8</c:v>
                </c:pt>
                <c:pt idx="3">
                  <c:v>3.1</c:v>
                </c:pt>
                <c:pt idx="4">
                  <c:v>4.2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16-4829-AFF1-9BBD100C5DC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(Millions)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BYD</c:v>
                </c:pt>
                <c:pt idx="1">
                  <c:v>Tesla</c:v>
                </c:pt>
                <c:pt idx="2">
                  <c:v>SAIC</c:v>
                </c:pt>
                <c:pt idx="3">
                  <c:v>Volkswagen</c:v>
                </c:pt>
                <c:pt idx="4">
                  <c:v>Hyundai–Kia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3.6</c:v>
                </c:pt>
                <c:pt idx="1">
                  <c:v>1.8</c:v>
                </c:pt>
                <c:pt idx="2">
                  <c:v>1.3</c:v>
                </c:pt>
                <c:pt idx="3">
                  <c:v>0.9</c:v>
                </c:pt>
                <c:pt idx="4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FD-420A-B01F-CA4A0A96F5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Share (%)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China</c:v>
                </c:pt>
                <c:pt idx="1">
                  <c:v>Europe</c:v>
                </c:pt>
                <c:pt idx="2">
                  <c:v>North America</c:v>
                </c:pt>
                <c:pt idx="3">
                  <c:v>Rest of World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25</c:v>
                </c:pt>
                <c:pt idx="2">
                  <c:v>15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EE-4BD2-9085-33A3A87940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Sales (Millions)</c:v>
                </c:pt>
              </c:strCache>
            </c:strRef>
          </c:tx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26</c:v>
                </c:pt>
                <c:pt idx="2">
                  <c:v>30</c:v>
                </c:pt>
                <c:pt idx="3">
                  <c:v>35</c:v>
                </c:pt>
                <c:pt idx="4">
                  <c:v>41</c:v>
                </c:pt>
                <c:pt idx="5">
                  <c:v>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1E-4BA2-AC36-6E84E8EE6DA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916A-5C06-4FC7-8A5A-EAB2E2A2176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0AB9-B375-4C1F-82CC-C60654C9E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051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916A-5C06-4FC7-8A5A-EAB2E2A2176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0AB9-B375-4C1F-82CC-C60654C9E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952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916A-5C06-4FC7-8A5A-EAB2E2A2176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0AB9-B375-4C1F-82CC-C60654C9E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577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916A-5C06-4FC7-8A5A-EAB2E2A2176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0AB9-B375-4C1F-82CC-C60654C9E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990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916A-5C06-4FC7-8A5A-EAB2E2A2176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0AB9-B375-4C1F-82CC-C60654C9E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017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916A-5C06-4FC7-8A5A-EAB2E2A2176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0AB9-B375-4C1F-82CC-C60654C9E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449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916A-5C06-4FC7-8A5A-EAB2E2A2176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0AB9-B375-4C1F-82CC-C60654C9E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322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916A-5C06-4FC7-8A5A-EAB2E2A2176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0AB9-B375-4C1F-82CC-C60654C9E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410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916A-5C06-4FC7-8A5A-EAB2E2A2176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0AB9-B375-4C1F-82CC-C60654C9E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688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916A-5C06-4FC7-8A5A-EAB2E2A2176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0AB9-B375-4C1F-82CC-C60654C9E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569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916A-5C06-4FC7-8A5A-EAB2E2A2176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0AB9-B375-4C1F-82CC-C60654C9E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154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916A-5C06-4FC7-8A5A-EAB2E2A2176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0AB9-B375-4C1F-82CC-C60654C9EC7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3529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916A-5C06-4FC7-8A5A-EAB2E2A2176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0AB9-B375-4C1F-82CC-C60654C9E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658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916A-5C06-4FC7-8A5A-EAB2E2A2176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0AB9-B375-4C1F-82CC-C60654C9E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571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916A-5C06-4FC7-8A5A-EAB2E2A2176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0AB9-B375-4C1F-82CC-C60654C9E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588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916A-5C06-4FC7-8A5A-EAB2E2A2176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0AB9-B375-4C1F-82CC-C60654C9E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381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916A-5C06-4FC7-8A5A-EAB2E2A2176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0AB9-B375-4C1F-82CC-C60654C9E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1484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5256" y="1447802"/>
            <a:ext cx="8827957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5256" y="4777380"/>
            <a:ext cx="8827957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54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055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258" y="2861735"/>
            <a:ext cx="8827956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256" y="4777381"/>
            <a:ext cx="8827957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8376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601" y="2060577"/>
            <a:ext cx="4397484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5967" y="2056093"/>
            <a:ext cx="4397487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4281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600" y="1905000"/>
            <a:ext cx="439748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601" y="2514600"/>
            <a:ext cx="4397484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5969" y="1905000"/>
            <a:ext cx="439748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5969" y="2514600"/>
            <a:ext cx="4397484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995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80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28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255" y="1447800"/>
            <a:ext cx="3401949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5863" y="1447800"/>
            <a:ext cx="5197351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5255" y="3129282"/>
            <a:ext cx="3401949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763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208" y="1854192"/>
            <a:ext cx="5094232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51357" y="1143000"/>
            <a:ext cx="320123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5255" y="3657600"/>
            <a:ext cx="5086304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610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258" y="4800587"/>
            <a:ext cx="8827956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5256" y="685800"/>
            <a:ext cx="8827957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5257" y="5367325"/>
            <a:ext cx="882795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40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256" y="1447800"/>
            <a:ext cx="8827957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5256" y="3657600"/>
            <a:ext cx="8827957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4494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5213" y="1447800"/>
            <a:ext cx="800139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904" y="3771174"/>
            <a:ext cx="7281545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5256" y="4350657"/>
            <a:ext cx="8827957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530" y="971253"/>
            <a:ext cx="80212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2921" y="2613787"/>
            <a:ext cx="80212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06363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255" y="3124201"/>
            <a:ext cx="88279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256" y="4777381"/>
            <a:ext cx="8827957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784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113" y="1981200"/>
            <a:ext cx="29476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633" y="2667000"/>
            <a:ext cx="2928112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4672" y="1981200"/>
            <a:ext cx="29370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4116" y="2667000"/>
            <a:ext cx="294756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6556" y="1981200"/>
            <a:ext cx="293287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6556" y="2667000"/>
            <a:ext cx="2932877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711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404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97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633" y="4250949"/>
            <a:ext cx="294081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633" y="2209800"/>
            <a:ext cx="294081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633" y="4827213"/>
            <a:ext cx="294081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90389" y="4250949"/>
            <a:ext cx="293128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90388" y="2209800"/>
            <a:ext cx="293128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9035" y="4827212"/>
            <a:ext cx="29351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6556" y="4250949"/>
            <a:ext cx="293287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6555" y="2209800"/>
            <a:ext cx="2932877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6433" y="4827210"/>
            <a:ext cx="293676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711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404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226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473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6377" y="430215"/>
            <a:ext cx="1753057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633" y="773205"/>
            <a:ext cx="7425083" cy="54831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7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DA6916A-5C06-4FC7-8A5A-EAB2E2A2176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F0AB9-B375-4C1F-82CC-C60654C9E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8186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8399243" y="1676400"/>
            <a:ext cx="37592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7586443" y="-457200"/>
            <a:ext cx="21336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8399243" y="6096000"/>
            <a:ext cx="13208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205317" y="2667000"/>
            <a:ext cx="5588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1119717" y="2895600"/>
            <a:ext cx="31496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10327525" y="0"/>
            <a:ext cx="9144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280" y="452718"/>
            <a:ext cx="940717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600" y="2052925"/>
            <a:ext cx="8948872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8419" y="1790661"/>
            <a:ext cx="990599" cy="30487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4413" y="3225261"/>
            <a:ext cx="3859795" cy="30488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5242" y="295737"/>
            <a:ext cx="838417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892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8E47A-8F46-42FA-9A6D-436435AF9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2857499"/>
          </a:xfrm>
        </p:spPr>
        <p:txBody>
          <a:bodyPr>
            <a:normAutofit fontScale="90000"/>
          </a:bodyPr>
          <a:lstStyle/>
          <a:p>
            <a:r>
              <a:rPr lang="en-US" dirty="0"/>
              <a:t>Electric Vehicle Trends 2025 🌍🚀Subtitle: Driving Towards a Sustainable Future ⚡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8420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5F377-1801-4570-8728-9B322CF0B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 Market Growth 📈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D91B0-22DE-4DA4-901A-BC73F6191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Global EV Sales on the Rise 🚗- </a:t>
            </a:r>
          </a:p>
          <a:p>
            <a:r>
              <a:rPr lang="en-US" sz="2800" dirty="0"/>
              <a:t>Expected 85 million EV sales by 2025 🌟- </a:t>
            </a:r>
          </a:p>
          <a:p>
            <a:r>
              <a:rPr lang="en-US" sz="2800" dirty="0"/>
              <a:t>China leads with 35% of new car sales being EVs </a:t>
            </a:r>
          </a:p>
          <a:p>
            <a:r>
              <a:rPr lang="en-US" sz="2800" dirty="0"/>
              <a:t>Europe and North America also showing strong growth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79449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Global EV Sales Growth (2015–2024)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602786" y="2018872"/>
          <a:ext cx="7767263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1B277-5DAC-4229-A37B-CDB87E3A2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Battery Innovations 🔋Advancements in EV Batteries 💡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E7C45-06EC-4B89-B850-8F3703E36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sz="2800" dirty="0"/>
              <a:t>⚡ Solid-State Batteries: Longer range, faster charging- </a:t>
            </a:r>
          </a:p>
          <a:p>
            <a:r>
              <a:rPr lang="en-IN" sz="2800" dirty="0"/>
              <a:t>🔋 Lithium-Iron Phosphate (LFP): Cost-effective, safer- </a:t>
            </a:r>
          </a:p>
          <a:p>
            <a:r>
              <a:rPr lang="en-IN" sz="2800" dirty="0"/>
              <a:t>🌿 Improving energy density and sustainability- Examples: </a:t>
            </a:r>
            <a:r>
              <a:rPr lang="en-IN" sz="2800" dirty="0" err="1"/>
              <a:t>QuantumScape</a:t>
            </a:r>
            <a:r>
              <a:rPr lang="en-IN" sz="2800" dirty="0"/>
              <a:t>, Toyota</a:t>
            </a:r>
          </a:p>
        </p:txBody>
      </p:sp>
    </p:spTree>
    <p:extLst>
      <p:ext uri="{BB962C8B-B14F-4D97-AF65-F5344CB8AC3E}">
        <p14:creationId xmlns:p14="http://schemas.microsoft.com/office/powerpoint/2010/main" val="3203304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09381-53A8-43C5-B223-53B744596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sz="3600" dirty="0"/>
              <a:t>Charging Infrastructure Expanding Charging Networks 🚀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241E7-4A87-45F1-B1E5-3623AC6BD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062" y="2614893"/>
            <a:ext cx="8946541" cy="2951835"/>
          </a:xfrm>
        </p:spPr>
        <p:txBody>
          <a:bodyPr>
            <a:normAutofit/>
          </a:bodyPr>
          <a:lstStyle/>
          <a:p>
            <a:r>
              <a:rPr lang="en-US" sz="2800" dirty="0"/>
              <a:t>- ⚡ Ultra-fast chargers reducing charging time (&lt;15 mins)</a:t>
            </a:r>
          </a:p>
          <a:p>
            <a:r>
              <a:rPr lang="en-US" sz="2800" dirty="0"/>
              <a:t> 📍 Growth in public charging stations globally</a:t>
            </a:r>
          </a:p>
          <a:p>
            <a:r>
              <a:rPr lang="en-IN" sz="2800" dirty="0"/>
              <a:t>- 🔌 Wireless charging emerging</a:t>
            </a:r>
          </a:p>
          <a:p>
            <a:r>
              <a:rPr lang="en-US" sz="2800" dirty="0"/>
              <a:t>- Helps tackle "range anxiety" 😌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66998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EV Charging Infrastructure Growth (2017–2024)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438400" y="1904619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155A1-4AA0-4C93-87B4-EA7B5FFE7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Sustainable Mobility 🌿Eco-Friendly Transportation 🌱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0893F-E0BD-42A1-9CE4-C057F53BB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812" y="2586319"/>
            <a:ext cx="8946541" cy="2595282"/>
          </a:xfrm>
        </p:spPr>
        <p:txBody>
          <a:bodyPr>
            <a:normAutofit/>
          </a:bodyPr>
          <a:lstStyle/>
          <a:p>
            <a:r>
              <a:rPr lang="en-IN" sz="2800" dirty="0"/>
              <a:t>🚗 EVs produce zero tailpipe emissions</a:t>
            </a:r>
          </a:p>
          <a:p>
            <a:r>
              <a:rPr lang="en-IN" sz="2800" dirty="0"/>
              <a:t>🌞 Solar-powered charging stations</a:t>
            </a:r>
          </a:p>
          <a:p>
            <a:r>
              <a:rPr lang="en-IN" sz="2800" dirty="0"/>
              <a:t>🔄 Battery recycling innovations</a:t>
            </a:r>
          </a:p>
          <a:p>
            <a:r>
              <a:rPr lang="en-IN" sz="2800" dirty="0"/>
              <a:t>Supporting net-zero goals 🌎</a:t>
            </a:r>
          </a:p>
        </p:txBody>
      </p:sp>
    </p:spTree>
    <p:extLst>
      <p:ext uri="{BB962C8B-B14F-4D97-AF65-F5344CB8AC3E}">
        <p14:creationId xmlns:p14="http://schemas.microsoft.com/office/powerpoint/2010/main" val="1052610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Top EV Manufacturers (2024)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904852"/>
              </p:ext>
            </p:extLst>
          </p:nvPr>
        </p:nvGraphicFramePr>
        <p:xfrm>
          <a:off x="1857375" y="1518958"/>
          <a:ext cx="7791450" cy="48863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04197-C833-4F8B-B750-026EBDCA7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Autonomous EVs 🤖Self-Driving Electric Vehicles 🚘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F7444-BFE5-45EE-BFE6-BEE2D25B5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2357719"/>
            <a:ext cx="8946541" cy="1852332"/>
          </a:xfrm>
        </p:spPr>
        <p:txBody>
          <a:bodyPr/>
          <a:lstStyle/>
          <a:p>
            <a:r>
              <a:rPr lang="en-US" sz="2800" dirty="0"/>
              <a:t>🚀 AI and autonomy transforming </a:t>
            </a:r>
            <a:r>
              <a:rPr lang="en-US" sz="2800" dirty="0" err="1"/>
              <a:t>Evs</a:t>
            </a:r>
            <a:endParaRPr lang="en-US" sz="2800" dirty="0"/>
          </a:p>
          <a:p>
            <a:r>
              <a:rPr lang="en-US" sz="2800" dirty="0"/>
              <a:t>🔍 Level 5 autonomy on horizon</a:t>
            </a:r>
          </a:p>
          <a:p>
            <a:r>
              <a:rPr lang="en-US" sz="2800" dirty="0"/>
              <a:t>🏙️ Improving safety and efficiency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7263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CC206-C5F9-4EBC-9369-A050F3834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Government Policies 🏛️Policies Boosting EV Adoption ✅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816C9-2F4C-4980-B8FA-BAB7003B4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768" y="2418996"/>
            <a:ext cx="8946541" cy="2580360"/>
          </a:xfrm>
        </p:spPr>
        <p:txBody>
          <a:bodyPr>
            <a:normAutofit/>
          </a:bodyPr>
          <a:lstStyle/>
          <a:p>
            <a:r>
              <a:rPr lang="en-US" sz="2800" dirty="0"/>
              <a:t>💰 Tax credits, subsidies for </a:t>
            </a:r>
            <a:r>
              <a:rPr lang="en-US" sz="2800" dirty="0" err="1"/>
              <a:t>Evs</a:t>
            </a:r>
            <a:endParaRPr lang="en-US" sz="2800" dirty="0"/>
          </a:p>
          <a:p>
            <a:r>
              <a:rPr lang="en-IN" sz="2800" dirty="0"/>
              <a:t>📜 Emissions regulations pushing electrification</a:t>
            </a:r>
          </a:p>
          <a:p>
            <a:r>
              <a:rPr lang="it-IT" sz="2800" dirty="0"/>
              <a:t>🌍 India, Europe, China promoting Evs</a:t>
            </a:r>
          </a:p>
          <a:p>
            <a:r>
              <a:rPr lang="en-IN" sz="2800" dirty="0"/>
              <a:t>Aiding affordability 🚀</a:t>
            </a:r>
          </a:p>
        </p:txBody>
      </p:sp>
    </p:spTree>
    <p:extLst>
      <p:ext uri="{BB962C8B-B14F-4D97-AF65-F5344CB8AC3E}">
        <p14:creationId xmlns:p14="http://schemas.microsoft.com/office/powerpoint/2010/main" val="3052674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18009-05C1-4B37-BD1E-A7BF6FBF2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Regional Highlights 🌏EV Adoption Across Regions 🌟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AC0BE-0AED-4B3B-9933-65BCDE76F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567269"/>
            <a:ext cx="8946541" cy="2271432"/>
          </a:xfrm>
        </p:spPr>
        <p:txBody>
          <a:bodyPr>
            <a:normAutofit/>
          </a:bodyPr>
          <a:lstStyle/>
          <a:p>
            <a:r>
              <a:rPr lang="en-US" sz="2800" dirty="0"/>
              <a:t>🌏 Asia Pacific: Dominates EV growth - China leading 🇨🇳</a:t>
            </a:r>
          </a:p>
          <a:p>
            <a:r>
              <a:rPr lang="en-US" sz="2800" dirty="0"/>
              <a:t>🌐 Europe: Strong due to emissions norms</a:t>
            </a:r>
          </a:p>
          <a:p>
            <a:r>
              <a:rPr lang="en-US" sz="2800" dirty="0"/>
              <a:t>🇺🇸 North America: Steady growth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36461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 Market Share by Region (2024)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304836" y="2018871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19AF8-7A52-46D9-B912-A12FEE873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643218"/>
            <a:ext cx="9404723" cy="1090332"/>
          </a:xfrm>
        </p:spPr>
        <p:txBody>
          <a:bodyPr/>
          <a:lstStyle/>
          <a:p>
            <a:r>
              <a:rPr lang="en-US" dirty="0"/>
              <a:t> Challenges 🚧EV Adoption Hurdles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34758-3C56-4089-B0A2-876A8D381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2519644"/>
            <a:ext cx="8946541" cy="2404782"/>
          </a:xfrm>
        </p:spPr>
        <p:txBody>
          <a:bodyPr>
            <a:normAutofit/>
          </a:bodyPr>
          <a:lstStyle/>
          <a:p>
            <a:r>
              <a:rPr lang="en-US" sz="2800" dirty="0"/>
              <a:t>💲 High upfront costs though declining</a:t>
            </a:r>
          </a:p>
          <a:p>
            <a:r>
              <a:rPr lang="en-US" sz="2800" dirty="0"/>
              <a:t>🏗️ Charging infrastructure gaps in rural areas</a:t>
            </a:r>
          </a:p>
          <a:p>
            <a:r>
              <a:rPr lang="en-IN" sz="2800" dirty="0"/>
              <a:t>🔋 Battery recycling needs</a:t>
            </a:r>
          </a:p>
          <a:p>
            <a:r>
              <a:rPr lang="en-US" sz="2800" dirty="0"/>
              <a:t> But innovations addressing these 🚀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88536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246A7-7AA7-40CF-84A2-C5BB2F60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Outlook 🔮The EV Revolution Continues 🌟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7652B-CC36-474A-A64F-3AD8D70A5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562" y="2386294"/>
            <a:ext cx="8946541" cy="2423832"/>
          </a:xfrm>
        </p:spPr>
        <p:txBody>
          <a:bodyPr/>
          <a:lstStyle/>
          <a:p>
            <a:r>
              <a:rPr lang="en-US" sz="2800" dirty="0"/>
              <a:t>⚡ Expected growth driven by tech, policies, sustainability</a:t>
            </a:r>
          </a:p>
          <a:p>
            <a:r>
              <a:rPr lang="en-US" sz="2800" dirty="0"/>
              <a:t>🚗 More affordable, efficient EVs coming</a:t>
            </a:r>
          </a:p>
          <a:p>
            <a:r>
              <a:rPr lang="en-US" sz="2800" dirty="0"/>
              <a:t>🌍 Shaping greener transportation ecosystems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3170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Projected EV Growth (2025–2030)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438400" y="2079279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 adoption is accelerating globally, driven by China and Europe.</a:t>
            </a:r>
          </a:p>
          <a:p>
            <a:r>
              <a:t>• Manufacturers like BYD and Tesla lead the market.</a:t>
            </a:r>
          </a:p>
          <a:p>
            <a:r>
              <a:t>• Charging infrastructure is expanding rapidly but needs more support.</a:t>
            </a:r>
          </a:p>
          <a:p>
            <a:r>
              <a:t>• By 2030, EVs are expected to make up nearly 50% of global new car sales.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7C89A-40F8-47BF-B940-C467F101B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7137" y="1331259"/>
            <a:ext cx="8946541" cy="4195481"/>
          </a:xfrm>
        </p:spPr>
        <p:txBody>
          <a:bodyPr/>
          <a:lstStyle/>
          <a:p>
            <a:pPr algn="ctr"/>
            <a:r>
              <a:rPr lang="en-IN" sz="4800" dirty="0"/>
              <a:t>Thank You </a:t>
            </a:r>
          </a:p>
          <a:p>
            <a:r>
              <a:rPr lang="en-US" sz="3200" dirty="0"/>
              <a:t>Thanks for Exploring EV Trends </a:t>
            </a:r>
          </a:p>
          <a:p>
            <a:r>
              <a:rPr lang="en-US" sz="3200" dirty="0"/>
              <a:t>Electric vehicles shaping sustainable mobility future</a:t>
            </a:r>
          </a:p>
          <a:p>
            <a:r>
              <a:rPr lang="en-US" sz="3200" dirty="0"/>
              <a:t> Innovations, growth, eco-impact continuing.</a:t>
            </a:r>
            <a:endParaRPr lang="en-IN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68032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1_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2328</TotalTime>
  <Words>422</Words>
  <Application>Microsoft Office PowerPoint</Application>
  <PresentationFormat>Widescreen</PresentationFormat>
  <Paragraphs>62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Century Gothic</vt:lpstr>
      <vt:lpstr>Wingdings 3</vt:lpstr>
      <vt:lpstr>Ion</vt:lpstr>
      <vt:lpstr>1_Ion</vt:lpstr>
      <vt:lpstr>Electric Vehicle Trends 2025 🌍🚀Subtitle: Driving Towards a Sustainable Future ⚡</vt:lpstr>
      <vt:lpstr>EV Market Growth 📈</vt:lpstr>
      <vt:lpstr>Global EV Sales Growth (2015–2024)</vt:lpstr>
      <vt:lpstr>Battery Innovations 🔋Advancements in EV Batteries 💡</vt:lpstr>
      <vt:lpstr> Charging Infrastructure Expanding Charging Networks 🚀</vt:lpstr>
      <vt:lpstr>EV Charging Infrastructure Growth (2017–2024)</vt:lpstr>
      <vt:lpstr>Sustainable Mobility 🌿Eco-Friendly Transportation 🌱</vt:lpstr>
      <vt:lpstr>Top EV Manufacturers (2024)</vt:lpstr>
      <vt:lpstr>Autonomous EVs 🤖Self-Driving Electric Vehicles 🚘</vt:lpstr>
      <vt:lpstr>Government Policies 🏛️Policies Boosting EV Adoption ✅</vt:lpstr>
      <vt:lpstr> Regional Highlights 🌏EV Adoption Across Regions 🌟</vt:lpstr>
      <vt:lpstr>EV Market Share by Region (2024)</vt:lpstr>
      <vt:lpstr> Challenges 🚧EV Adoption Hurdles</vt:lpstr>
      <vt:lpstr>Future Outlook 🔮The EV Revolution Continues 🌟</vt:lpstr>
      <vt:lpstr>Projected EV Growth (2025–2030)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Vehicle Trends 2025 🌍🚀Subtitle: Driving Towards a Sustainable Future ⚡</dc:title>
  <dc:creator>Dell</dc:creator>
  <cp:lastModifiedBy>Dell</cp:lastModifiedBy>
  <cp:revision>8</cp:revision>
  <dcterms:created xsi:type="dcterms:W3CDTF">2025-10-12T16:30:26Z</dcterms:created>
  <dcterms:modified xsi:type="dcterms:W3CDTF">2025-11-06T07:44:16Z</dcterms:modified>
</cp:coreProperties>
</file>